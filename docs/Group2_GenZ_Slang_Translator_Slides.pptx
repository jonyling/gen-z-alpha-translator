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Georgia"/>
              </a:rPr>
              <a:t>Gen Z / Alpha Slang ↔ English Translator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5D0DB"/>
                </a:solidFill>
                <a:latin typeface="Calibri"/>
              </a:rPr>
              <a:t>Group 2  ·  One model, two directions  ·  Llama 3.2 3B + QLoRA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A2B3C"/>
                </a:solidFill>
                <a:latin typeface="Calibri"/>
              </a:rPr>
              <a:t>Task: bidirectional translator controlled by a prompt tag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A2B3C"/>
                </a:solidFill>
                <a:latin typeface="Calibri"/>
              </a:rPr>
              <a:t>•  Translate to English:  &lt;slang&gt;   →  plain English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A2B3C"/>
                </a:solidFill>
                <a:latin typeface="Calibri"/>
              </a:rPr>
              <a:t>•  Translate to Gen Z slang:  &lt;English&gt;   →  slang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08960"/>
            <a:ext cx="539496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3108960"/>
            <a:ext cx="539496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1821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Slang → English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7033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5C6B7A"/>
                </a:solidFill>
                <a:latin typeface="Calibri"/>
              </a:rPr>
              <a:t>IN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You're tweaking if you cancel over one late reply.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5C6B7A"/>
                </a:solidFill>
                <a:latin typeface="Calibri"/>
              </a:rPr>
              <a:t>OUT (target)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You're overreacting if you cancel over one late reply.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108960"/>
            <a:ext cx="539496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3108960"/>
            <a:ext cx="5394960" cy="41148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1821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English → Slang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7033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5C6B7A"/>
                </a:solidFill>
                <a:latin typeface="Calibri"/>
              </a:rPr>
              <a:t>IN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Where are you? The movie starts in ten.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5C6B7A"/>
                </a:solidFill>
                <a:latin typeface="Calibri"/>
              </a:rPr>
              <a:t>OUT (target)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WRU@? The movie starts in ten.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Group 2  ·  Week 5 Mini-project  ·  Speaker: Coordinator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C2E"/>
                </a:solidFill>
                <a:latin typeface="Georgia"/>
              </a:rPr>
              <a:t>The gap: base model misses recent slang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5C6B7A"/>
                </a:solidFill>
                <a:latin typeface="Calibri"/>
              </a:rPr>
              <a:t>Llama 3.2 3B guesses or invents meanings for 2023–2026 slang (knowledge + behaviour gap).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5C6B7A"/>
                </a:solidFill>
                <a:latin typeface="Calibri"/>
              </a:rPr>
              <a:t>Fine-tuning puts the skill in the weights — not RAG (messy short senses; assignment wants weights).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1115568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C2E"/>
                </a:solidFill>
                <a:latin typeface="Calibri"/>
              </a:rPr>
              <a:t>Concrete failure (held-out eval)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5C6B7A"/>
                </a:solidFill>
                <a:latin typeface="Calibri"/>
              </a:rPr>
              <a:t>IN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A2B3C"/>
                </a:solidFill>
                <a:latin typeface="Calibri"/>
              </a:rPr>
              <a:t>You look 6Y as hell in that outfit tonight.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C1121F"/>
                </a:solidFill>
                <a:latin typeface="Calibri"/>
              </a:rPr>
              <a:t>BASE (wrong)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A2B3C"/>
                </a:solidFill>
                <a:latin typeface="Calibri"/>
              </a:rPr>
              <a:t>That's a very rude comment… you appear six years old wearing those clothes tonight.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2D6A4F"/>
                </a:solidFill>
                <a:latin typeface="Calibri"/>
              </a:rPr>
              <a:t>REFERENCE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A2B3C"/>
                </a:solidFill>
                <a:latin typeface="Calibri"/>
              </a:rPr>
              <a:t>You look really sexy in that outfit tonight.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5C6B7A"/>
                </a:solidFill>
                <a:latin typeface="Calibri"/>
              </a:rPr>
              <a:t>Why it fails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A2B3C"/>
                </a:solidFill>
                <a:latin typeface="Calibri"/>
              </a:rPr>
              <a:t>Treats slang token 6Y as a literal age — confidently wrong meaning.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Group 2  ·  Week 5 Mini-project  ·  Speaker: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C2E"/>
                </a:solidFill>
                <a:latin typeface="Georgia"/>
              </a:rPr>
              <a:t>What we did: SFT via QLoRA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26517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2651760" cy="4572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7043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1 ·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3C"/>
                </a:solidFill>
                <a:latin typeface="Calibri"/>
              </a:rPr>
              <a:t>Clean pairs +
Grok synthetic
(+ SDG pairs)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0116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5D04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097280"/>
            <a:ext cx="26517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097280"/>
            <a:ext cx="2651760" cy="4572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17043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2 · Prep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7373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3C"/>
                </a:solidFill>
                <a:latin typeface="Calibri"/>
              </a:rPr>
              <a:t>Dedupe · both
directions · freeze
70-item 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20116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5D04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097280"/>
            <a:ext cx="26517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097280"/>
            <a:ext cx="2651760" cy="4572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17043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3 · Train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7373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3C"/>
                </a:solidFill>
                <a:latin typeface="Calibri"/>
              </a:rPr>
              <a:t>Llama 3.2 3B
4-bit QLoRA
(r=16)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0116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5D04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097280"/>
            <a:ext cx="26517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1097280"/>
            <a:ext cx="265176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117043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4 · Eval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17373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3C"/>
                </a:solidFill>
                <a:latin typeface="Calibri"/>
              </a:rPr>
              <a:t>Human 1/0 grades
+ accept / METEOR
/ BERT / abstain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657600"/>
            <a:ext cx="11155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F1C2E"/>
                </a:solidFill>
                <a:latin typeface="Calibri"/>
              </a:rPr>
              <a:t>Why SFT / QLoRA (not DPO, not RAG)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• Gap is right vs wrong meaning → SFT teaches pairs; DPO is for style between already-valid answers.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• Assignment wants capability in the weights; slang senses are short/messy for retrieval.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• QLoRA fits T4 / laptop GPUs; one adapter serves both directions via tags.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• Primary metric = human accuracy (2 raters); auto metrics are secondary.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Group 2  ·  Week 5 Mini-project  ·  Speaker: Modelling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C2E"/>
                </a:solidFill>
                <a:latin typeface="Georgia"/>
              </a:rPr>
              <a:t>Results: before vs after (honest)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6B7A"/>
                </a:solidFill>
                <a:latin typeface="Calibri"/>
              </a:rPr>
              <a:t>Primary = human accuracy (both raters = 1) on grading_sheet_post_grok.csv  ·  agreement 71%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676656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6766560" cy="4572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39" y="12984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2984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Tuned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737360"/>
            <a:ext cx="67665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7451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3C"/>
                </a:solidFill>
                <a:latin typeface="Calibri"/>
              </a:rPr>
              <a:t>Slang → English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87451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3C"/>
                </a:solidFill>
                <a:latin typeface="Calibri"/>
              </a:rPr>
              <a:t>37%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87451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1121F"/>
                </a:solidFill>
                <a:latin typeface="Calibri"/>
              </a:rPr>
              <a:t>37%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377439"/>
            <a:ext cx="6766560" cy="64008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51459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3C"/>
                </a:solidFill>
                <a:latin typeface="Calibri"/>
              </a:rPr>
              <a:t>English → Slang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39" y="251459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3C"/>
                </a:solidFill>
                <a:latin typeface="Calibri"/>
              </a:rPr>
              <a:t>60%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51459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1121F"/>
                </a:solidFill>
                <a:latin typeface="Calibri"/>
              </a:rPr>
              <a:t>20%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017520"/>
            <a:ext cx="67665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1546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3C"/>
                </a:solidFill>
                <a:latin typeface="Calibri"/>
              </a:rPr>
              <a:t>Overall (translate)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39" y="31546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3C"/>
                </a:solidFill>
                <a:latin typeface="Calibri"/>
              </a:rPr>
              <a:t>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1546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1121F"/>
                </a:solidFill>
                <a:latin typeface="Calibri"/>
              </a:rPr>
              <a:t>28%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657599"/>
            <a:ext cx="6766560" cy="64008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7947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3C"/>
                </a:solidFill>
                <a:latin typeface="Calibri"/>
              </a:rPr>
              <a:t>Abstain (auto, junk)*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7947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B3C"/>
                </a:solidFill>
                <a:latin typeface="Calibri"/>
              </a:rPr>
              <a:t>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7947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D9488"/>
                </a:solidFill>
                <a:latin typeface="Calibri"/>
              </a:rPr>
              <a:t>100%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1234440"/>
            <a:ext cx="411480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0" y="137160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C2E"/>
                </a:solidFill>
                <a:latin typeface="Calibri"/>
              </a:rPr>
              <a:t>Secondary (auto)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1828800"/>
            <a:ext cx="374903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C6B7A"/>
                </a:solidFill>
                <a:latin typeface="Calibri"/>
              </a:rPr>
              <a:t>Accept: 3% → 8%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C6B7A"/>
                </a:solidFill>
                <a:latin typeface="Calibri"/>
              </a:rPr>
              <a:t>METEOR: 0.13 → 0.09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C6B7A"/>
                </a:solidFill>
                <a:latin typeface="Calibri"/>
              </a:rPr>
              <a:t>BERTScore: 0.55 → 0.48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C6B7A"/>
                </a:solidFill>
                <a:latin typeface="Calibri"/>
              </a:rPr>
              <a:t>Abstain: 10% → 100%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C6B7A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C6B7A"/>
                </a:solidFill>
                <a:latin typeface="Calibri"/>
              </a:rPr>
              <a:t>Humans are the grade.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75488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B3C"/>
                </a:solidFill>
                <a:latin typeface="Calibri"/>
              </a:rPr>
              <a:t>*Unanswerable rows were not dual-rated by humans; abstain % is automatic marker check.
Takeaway: on this held-out set, QLoRA did not improve human translation accuracy — English→slang got much worse. Clear win is refusing junk input.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Group 2  ·  Week 5 Mini-project  ·  Speaker: Data &amp; eval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C2E"/>
                </a:solidFill>
                <a:latin typeface="Georgia"/>
              </a:rPr>
              <a:t>What it still gets wrong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556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C2E"/>
                </a:solidFill>
                <a:latin typeface="Calibri"/>
              </a:rPr>
              <a:t>1 · English → slang collapsed under human grades (60% → 20%)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2B3C"/>
                </a:solidFill>
                <a:latin typeface="Calibri"/>
              </a:rPr>
              <a:t>Tuned answers are often too plain, wrong slang, or off-register vs the gold sentence.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B3C"/>
                </a:solidFill>
                <a:latin typeface="Calibri"/>
              </a:rPr>
              <a:t>Open-ended direction + one reference string; decode tightened toward short outputs.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B3C"/>
                </a:solidFill>
                <a:latin typeface="Calibri"/>
              </a:rPr>
              <a:t>Why: training mixture + inference constraints hurt this direction more than they helped.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566160"/>
            <a:ext cx="111556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703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C2E"/>
                </a:solidFill>
                <a:latin typeface="Calibri"/>
              </a:rPr>
              <a:t>2 · Rare acronyms still missed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2B3C"/>
                </a:solidFill>
                <a:latin typeface="Calibri"/>
              </a:rPr>
              <a:t>IN: "I'm heading out, TNT fam."  →  REF: "talk next time fam"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B3C"/>
                </a:solidFill>
                <a:latin typeface="Calibri"/>
              </a:rPr>
              <a:t>TUNED: "Good night everyone!" — drops TNT; generic farewell.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B3C"/>
                </a:solidFill>
                <a:latin typeface="Calibri"/>
              </a:rPr>
              <a:t>Why: sparse signal for uncommon acronyms; falls back to polite chat.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Group 2  ·  Week 5 Mini-project  ·  Speaker: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C2E"/>
                </a:solidFill>
                <a:latin typeface="Georgia"/>
              </a:rPr>
              <a:t>Recommendation: HOLD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35661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C6B7A"/>
                </a:solidFill>
                <a:latin typeface="Calibri"/>
              </a:rPr>
              <a:t>DEPLOY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051560"/>
            <a:ext cx="35661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2344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C6B7A"/>
                </a:solidFill>
                <a:latin typeface="Calibri"/>
              </a:rPr>
              <a:t>ITERATE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2440" y="1051560"/>
            <a:ext cx="3566160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2344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HOLD  ← our 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86000"/>
            <a:ext cx="11155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F1C2E"/>
                </a:solidFill>
                <a:latin typeface="Calibri"/>
              </a:rPr>
              <a:t>Why HOLD (do not deploy as a translator)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• Primary human accuracy fell: base 48% → tuned 28% (English→slang 60% → 20%).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• Slang→English flat at 37%; not enough lift to ship.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• Keep the abstain win (10% → 100% on junk) — that part is worth retaining.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F1C2E"/>
                </a:solidFill>
                <a:latin typeface="Calibri"/>
              </a:rPr>
              <a:t>If we continue (offline iterate)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Fix English→slang data + decode; re-freeze eval; re-grade before any deploy claim.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Group 2  ·  Week 5 Mini-project  ·  Speaker: Coordinator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